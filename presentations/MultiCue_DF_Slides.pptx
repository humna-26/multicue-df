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56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11551615" cy="25603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868680"/>
            <a:ext cx="91440" cy="2560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1858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MultiCue-DF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CC0000"/>
                </a:solidFill>
                <a:latin typeface="Calibri"/>
              </a:rPr>
              <a:t>Multi-Cue Deepfake Detection via Parallel Stream CNNs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FFCCCC"/>
                </a:solidFill>
                <a:latin typeface="Calibri"/>
              </a:rPr>
              <a:t>with Squeeze-and-Excitation Fusion  ·  FaceForensics++ C23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703320"/>
            <a:ext cx="2819323" cy="11430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3703320"/>
            <a:ext cx="2819323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3767328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4444"/>
                </a:solidFill>
                <a:latin typeface="Calibri"/>
              </a:rPr>
              <a:t>12.4M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389120"/>
            <a:ext cx="28193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  <a:latin typeface="Calibri"/>
              </a:rPr>
              <a:t>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0803" y="3703320"/>
            <a:ext cx="2819323" cy="11430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30803" y="3703320"/>
            <a:ext cx="2819323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0803" y="3767328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4444"/>
                </a:solidFill>
                <a:latin typeface="Calibri"/>
              </a:rPr>
              <a:t>96.57%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03" y="4389120"/>
            <a:ext cx="28193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  <a:latin typeface="Calibri"/>
              </a:rPr>
              <a:t>Test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1567" y="3703320"/>
            <a:ext cx="2819323" cy="11430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41567" y="3703320"/>
            <a:ext cx="2819323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1567" y="3767328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4444"/>
                </a:solidFill>
                <a:latin typeface="Calibri"/>
              </a:rPr>
              <a:t>0.990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1567" y="4389120"/>
            <a:ext cx="28193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  <a:latin typeface="Calibri"/>
              </a:rPr>
              <a:t>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331" y="3703320"/>
            <a:ext cx="2819323" cy="11430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331" y="3703320"/>
            <a:ext cx="2819323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331" y="3767328"/>
            <a:ext cx="281932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4444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331" y="4389120"/>
            <a:ext cx="28193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  <a:latin typeface="Calibri"/>
              </a:rPr>
              <a:t>Parallel Streams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074920"/>
            <a:ext cx="11551615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5074920"/>
            <a:ext cx="64008" cy="96012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" y="5148072"/>
            <a:ext cx="1123157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Calibri"/>
              </a:rPr>
              <a:t>Humna Tariq</a:t>
            </a:r>
            <a:r>
              <a:rPr lang="en-US" sz="1700" b="1" i="0" dirty="0">
                <a:solidFill>
                  <a:srgbClr val="FFFFFF"/>
                </a:solidFill>
                <a:latin typeface="Calibri"/>
              </a:rPr>
              <a:t>, Huda Noor, Qura-</a:t>
            </a:r>
            <a:r>
              <a:rPr lang="en-US" sz="1700" b="1" i="0" dirty="0" err="1">
                <a:solidFill>
                  <a:srgbClr val="FFFFFF"/>
                </a:solidFill>
                <a:latin typeface="Calibri"/>
              </a:rPr>
              <a:t>tul</a:t>
            </a:r>
            <a:r>
              <a:rPr lang="en-US" sz="17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lang="en-US" sz="1700" b="1" i="0" dirty="0" err="1">
                <a:solidFill>
                  <a:srgbClr val="FFFFFF"/>
                </a:solidFill>
                <a:latin typeface="Calibri"/>
              </a:rPr>
              <a:t>ain</a:t>
            </a:r>
            <a:r>
              <a:rPr lang="en-US" sz="1700" b="1" i="0" dirty="0">
                <a:solidFill>
                  <a:srgbClr val="FFFFFF"/>
                </a:solidFill>
                <a:latin typeface="Calibri"/>
              </a:rPr>
              <a:t> Azhar</a:t>
            </a:r>
            <a:endParaRPr sz="17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b="0" i="0" dirty="0">
                <a:solidFill>
                  <a:srgbClr val="FFCCCC"/>
                </a:solidFill>
                <a:latin typeface="Calibri"/>
              </a:rPr>
              <a:t>CS-419 Deep Learning  </a:t>
            </a:r>
            <a:r>
              <a:rPr sz="1200" b="0" i="0">
                <a:solidFill>
                  <a:srgbClr val="FFCCCC"/>
                </a:solidFill>
                <a:latin typeface="Calibri"/>
              </a:rPr>
              <a:t>·  </a:t>
            </a:r>
            <a:r>
              <a:rPr lang="en-US" sz="1200">
                <a:solidFill>
                  <a:srgbClr val="FFCCCC"/>
                </a:solidFill>
                <a:latin typeface="Calibri"/>
              </a:rPr>
              <a:t>BSCS-13-D</a:t>
            </a:r>
            <a:r>
              <a:rPr sz="1200" b="0" i="0">
                <a:solidFill>
                  <a:srgbClr val="FFCCCC"/>
                </a:solidFill>
                <a:latin typeface="Calibri"/>
              </a:rPr>
              <a:t>  </a:t>
            </a:r>
            <a:r>
              <a:rPr sz="1200" b="0" i="0" dirty="0">
                <a:solidFill>
                  <a:srgbClr val="FFCCCC"/>
                </a:solidFill>
                <a:latin typeface="Calibri"/>
              </a:rPr>
              <a:t>·  May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98564"/>
            <a:ext cx="12191695" cy="594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Why Deepfake Detection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52144"/>
            <a:ext cx="6930969" cy="14630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52144"/>
            <a:ext cx="64008" cy="14630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234440"/>
            <a:ext cx="672980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6729801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Modern GAN-based fakes are near-photorealistic and can be produced in minutes. Autoencoder swaps, neural texture rendering, and expression transfer are all open-source and widely accessible.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52344"/>
            <a:ext cx="6930969" cy="14630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752344"/>
            <a:ext cx="64008" cy="14630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2834640"/>
            <a:ext cx="672980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Calibri"/>
              </a:rPr>
              <a:t>GLOBAL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154680"/>
            <a:ext cx="6729801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Deepfakes enable political manipulation, financial fraud, non-consensual imagery, and targeted harassment. A single viral clip can cause irreversible reputational damage.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52544"/>
            <a:ext cx="6930969" cy="14630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352544"/>
            <a:ext cx="64008" cy="1463040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434840"/>
            <a:ext cx="672980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3333"/>
                </a:solidFill>
                <a:latin typeface="Calibri"/>
              </a:rPr>
              <a:t>BRITTLE DETECTORS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754880"/>
            <a:ext cx="6729801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Single-stream methods fail: spatial detectors are fooled by expression-transfer fakes; frequency detectors are defeated by post-processing. No single cue is robust.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177" y="1152144"/>
            <a:ext cx="4419478" cy="466344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52177" y="1152144"/>
            <a:ext cx="4419478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1905" y="1261872"/>
            <a:ext cx="42365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  <a:latin typeface="Calibri"/>
              </a:rPr>
              <a:t>PAKISTAN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1905" y="1673352"/>
            <a:ext cx="423659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2024 elections: AI-generated videos of politicians circulated on WhatsApp before any fact-check was possible.</a:t>
            </a:r>
          </a:p>
          <a:p>
            <a:pPr algn="l">
              <a:spcBef>
                <a:spcPts val="200"/>
              </a:spcBef>
            </a:pPr>
            <a:endParaRPr sz="1000" b="0" i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Social velocity: content goes viral in minutes — far faster than any manual verification process.</a:t>
            </a:r>
          </a:p>
          <a:p>
            <a:pPr algn="l">
              <a:spcBef>
                <a:spcPts val="200"/>
              </a:spcBef>
            </a:pPr>
            <a:endParaRPr sz="1000" b="0" i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Infrastructure: low-bandwidth Android phones, WhatsApp re-encoding (C40-equivalent), Urdu/Pashto metadata.</a:t>
            </a:r>
          </a:p>
          <a:p>
            <a:pPr algn="l">
              <a:spcBef>
                <a:spcPts val="200"/>
              </a:spcBef>
            </a:pPr>
            <a:endParaRPr sz="1000" b="0" i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Targeted harassment: deepfake imagery weaponised against women journalists and political activists.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91695" cy="5303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" y="6309360"/>
            <a:ext cx="11917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A0000"/>
                </a:solidFill>
                <a:latin typeface="Calibri"/>
              </a:rPr>
              <a:t>Solution: fuse spatial semantics + periocular texture + frequency fingerprints — so no single failure mode can defeat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MultiCue-DF —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16152"/>
            <a:ext cx="3108960" cy="338328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16152"/>
            <a:ext cx="3108960" cy="594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3350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0000"/>
                </a:solidFill>
                <a:latin typeface="Calibri"/>
              </a:rPr>
              <a:t>STREAM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CC"/>
                </a:solidFill>
                <a:latin typeface="Calibri"/>
              </a:rPr>
              <a:t>Input: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208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Full Face  224×224 RGB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3347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ResNet-18
(ImageNet pretrained)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05072"/>
            <a:ext cx="210312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A0000"/>
                </a:solidFill>
                <a:latin typeface="Calibri"/>
              </a:rPr>
              <a:t>Output: 512-d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0168" y="1216152"/>
            <a:ext cx="3108960" cy="338328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30168" y="1216152"/>
            <a:ext cx="3108960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0168" y="13350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444"/>
                </a:solidFill>
                <a:latin typeface="Calibri"/>
              </a:rPr>
              <a:t>STREAM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17647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CC"/>
                </a:solidFill>
                <a:latin typeface="Calibri"/>
              </a:rPr>
              <a:t>Input: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0208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Eye/Mouth  224×224 RGB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63347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Custom 4-Block
CNN (from scratch)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3088" y="4005072"/>
            <a:ext cx="2103120" cy="457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33088" y="402336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A0000"/>
                </a:solidFill>
                <a:latin typeface="Calibri"/>
              </a:rPr>
              <a:t>Output: 256-d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0296" y="1216152"/>
            <a:ext cx="3108960" cy="338328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40296" y="1216152"/>
            <a:ext cx="3108960" cy="59436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0296" y="13350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333"/>
                </a:solidFill>
                <a:latin typeface="Calibri"/>
              </a:rPr>
              <a:t>STREAM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17647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CC"/>
                </a:solidFill>
                <a:latin typeface="Calibri"/>
              </a:rPr>
              <a:t>Input: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0296" y="20208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FFT Map  224×224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263347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Shallow 3-Block
CNN + LeakyReLU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3216" y="4005072"/>
            <a:ext cx="2103120" cy="457200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3216" y="4023360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A0000"/>
                </a:solidFill>
                <a:latin typeface="Calibri"/>
              </a:rPr>
              <a:t>Output: 128-d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04704" y="1216152"/>
            <a:ext cx="1666951" cy="33832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204704" y="1216152"/>
            <a:ext cx="1666951" cy="59436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04704" y="1335024"/>
            <a:ext cx="16669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666"/>
                </a:solidFill>
                <a:latin typeface="Calibri"/>
              </a:rPr>
              <a:t>FUSION 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6144" y="1764792"/>
            <a:ext cx="148407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  <a:latin typeface="Calibri"/>
              </a:rPr>
              <a:t>Concat →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896-d vector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CC0000"/>
                </a:solidFill>
                <a:latin typeface="Calibri"/>
              </a:rPr>
              <a:t>SE Attention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CC0000"/>
                </a:solidFill>
                <a:latin typeface="Calibri"/>
              </a:rPr>
              <a:t>f ⊙ 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Linear(896→256)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BN + ReLU + Dropout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Linear(256→2)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E63333"/>
                </a:solidFill>
                <a:latin typeface="Calibri"/>
              </a:rPr>
              <a:t>Real / Fake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833872"/>
            <a:ext cx="11551615" cy="749808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5833872"/>
            <a:ext cx="11551615" cy="59436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925312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666"/>
                </a:solidFill>
                <a:latin typeface="Calibri"/>
              </a:rPr>
              <a:t>12,438,234 total parameters  ·  Best: 96.57% accuracy  ·  AUC 0.990  ·  F1 0.980  ·  FaceForensics++ C23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Dataset: FaceForensics++ C23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124712"/>
          <a:ext cx="6930968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Manipulation Method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C0000"/>
                          </a:solidFill>
                          <a:latin typeface="Calibri"/>
                        </a:rPr>
                        <a:t>Deepfakes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Identity swap via autoencoder trained per-person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C0000"/>
                          </a:solidFill>
                          <a:latin typeface="Calibri"/>
                        </a:rPr>
                        <a:t>Face2Face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Expression transfer from source to target face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C0000"/>
                          </a:solidFill>
                          <a:latin typeface="Calibri"/>
                        </a:rPr>
                        <a:t>FaceShifter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High-fidelity identity swap (occlusion-aware)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C0000"/>
                          </a:solidFill>
                          <a:latin typeface="Calibri"/>
                        </a:rPr>
                        <a:t>FaceSwap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3D model-based face replacement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C0000"/>
                          </a:solidFill>
                          <a:latin typeface="Calibri"/>
                        </a:rPr>
                        <a:t>NeuralTextures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Neural rendering of face texture 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CC0000"/>
                          </a:solidFill>
                          <a:latin typeface="Calibri"/>
                        </a:rPr>
                        <a:t>DeepFakeDetection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Extended GAN set (Google / FaceForensics++ team)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79609" y="1124712"/>
            <a:ext cx="4392046" cy="62179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79609" y="1124712"/>
            <a:ext cx="54864" cy="6217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9609" y="1161288"/>
            <a:ext cx="43920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C0000"/>
                </a:solidFill>
                <a:latin typeface="Calibri"/>
              </a:rPr>
              <a:t>7,000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609" y="1508760"/>
            <a:ext cx="4392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Total Videos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9609" y="1837944"/>
            <a:ext cx="4392046" cy="62179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79609" y="1837944"/>
            <a:ext cx="54864" cy="62179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9609" y="1874520"/>
            <a:ext cx="43920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4444"/>
                </a:solidFill>
                <a:latin typeface="Calibri"/>
              </a:rPr>
              <a:t>~14,000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609" y="2221992"/>
            <a:ext cx="4392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Sampled Frames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9609" y="2551176"/>
            <a:ext cx="4392046" cy="62179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79609" y="2551176"/>
            <a:ext cx="54864" cy="621792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609" y="2587752"/>
            <a:ext cx="43920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63333"/>
                </a:solidFill>
                <a:latin typeface="Calibri"/>
              </a:rPr>
              <a:t>70 / 15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609" y="2935224"/>
            <a:ext cx="4392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Train / Val /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9609" y="3264408"/>
            <a:ext cx="4392046" cy="62179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79609" y="3264408"/>
            <a:ext cx="54864" cy="621792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609" y="3300984"/>
            <a:ext cx="43920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6666"/>
                </a:solidFill>
                <a:latin typeface="Calibri"/>
              </a:rPr>
              <a:t>224 × 224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609" y="3648456"/>
            <a:ext cx="4392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Image Resolution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9609" y="3977640"/>
            <a:ext cx="4392046" cy="62179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79609" y="3977640"/>
            <a:ext cx="54864" cy="62179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9609" y="4014216"/>
            <a:ext cx="43920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CCCC"/>
                </a:solidFill>
                <a:latin typeface="Calibri"/>
              </a:rPr>
              <a:t>C23 H.264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609" y="4361688"/>
            <a:ext cx="4392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Compression Level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609" y="4690872"/>
            <a:ext cx="4392046" cy="62179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79609" y="4690872"/>
            <a:ext cx="54864" cy="62179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609" y="4727448"/>
            <a:ext cx="439204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CCCC"/>
                </a:solidFill>
                <a:latin typeface="Calibri"/>
              </a:rPr>
              <a:t>Seed = 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609" y="5074920"/>
            <a:ext cx="4392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Three-Stream Architecture (Detailed)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3759098" cy="41605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3759098" cy="594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35762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Stream 1 — Full 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35762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ResNet-18 (ImageNet pretrained)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75104"/>
            <a:ext cx="3576218" cy="182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357621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Input: 224×224 RGB full-face crop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Layers 0–5: FROZEN (conv1 → layer2)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CCCC"/>
                </a:solidFill>
                <a:latin typeface="Calibri"/>
              </a:rPr>
              <a:t>  preserves universal low-level features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Layers 3–4 + FC: fine-tuned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FC: Linear(512→512) + ReLU + Dropout(0.3)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Output: 512-d feature vector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4873752"/>
            <a:ext cx="3539642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4892040"/>
            <a:ext cx="353964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A0000"/>
                </a:solidFill>
                <a:latin typeface="Calibri"/>
              </a:rPr>
              <a:t>~11.2M 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6298" y="1170432"/>
            <a:ext cx="3759098" cy="41605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16298" y="1170432"/>
            <a:ext cx="3759098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7738" y="1280160"/>
            <a:ext cx="35762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Calibri"/>
              </a:rPr>
              <a:t>Stream 2 — Eye / Mouth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7738" y="1645920"/>
            <a:ext cx="35762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Custom 4-Block CNN (trained from scratch)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7738" y="1975104"/>
            <a:ext cx="3576218" cy="1828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07738" y="2057400"/>
            <a:ext cx="357621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Input: 224×224 RGB periocular crop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B1: Conv→BN→ReLU×2 → 32ch + MaxPool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B2: 32→64ch + MaxPool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B3: 64→128ch + MaxPool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B4: 128→256ch + AdaptiveAvgPool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Head: Linear(256→256) + ReLU + Dropout(0.3)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Output: 256-d feature vector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6026" y="4873752"/>
            <a:ext cx="3539642" cy="38404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6026" y="4892040"/>
            <a:ext cx="353964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A0000"/>
                </a:solidFill>
                <a:latin typeface="Calibri"/>
              </a:rPr>
              <a:t>~1.31M params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2556" y="1170432"/>
            <a:ext cx="3759098" cy="41605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12556" y="1170432"/>
            <a:ext cx="3759098" cy="59436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3996" y="1280160"/>
            <a:ext cx="35762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3333"/>
                </a:solidFill>
                <a:latin typeface="Calibri"/>
              </a:rPr>
              <a:t>Stream 3 — FFT Frequency 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1645920"/>
            <a:ext cx="35762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Shallow 3-Block CNN (LeakyReLU α=0.1)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3996" y="1975104"/>
            <a:ext cx="3576218" cy="18288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3996" y="2057400"/>
            <a:ext cx="357621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Input: 224×224 log FFT magnitude map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CCCC"/>
                </a:solidFill>
                <a:latin typeface="Calibri"/>
              </a:rPr>
              <a:t>  (zero-mean, unit-variance normalised)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Conv→BN→LReLU×3: 3→32→64→128ch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MaxPool × 2 + AdaptiveAvgPool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Head: Linear(128→128) + LReLU + Dropout(0.3)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Output: 128-d feature vector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2284" y="4873752"/>
            <a:ext cx="3539642" cy="384048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2284" y="4892040"/>
            <a:ext cx="353964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A0000"/>
                </a:solidFill>
                <a:latin typeface="Calibri"/>
              </a:rPr>
              <a:t>~145K params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36208"/>
            <a:ext cx="12191695" cy="54864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236208"/>
            <a:ext cx="12191695" cy="4572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" y="6291072"/>
            <a:ext cx="119173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666"/>
                </a:solidFill>
                <a:latin typeface="Calibri"/>
              </a:rPr>
              <a:t>FUSION:  cat([512, 256, 128]) = 896-d  →  s = σ(W₂·ReLU(W₁·f))  →  f ⊙ s  →  Linear(896→256) → BN1d → ReLU → Dropout → Linear(256→2)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12 Controlled Ablation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6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60704"/>
          <a:ext cx="11551613" cy="5550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4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 (%)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3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E01 — MLP Baseline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66.81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0.776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77.2M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E02 — Single CNN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83.24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0.42M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E03 — Stream 1 Only (ResNet-18)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95.10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0.986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10.9M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E04 — Stream 2 Only (Eye/Mouth)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85.71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1.31M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E05 — Stream 3 Only (FFT-CNN)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71.86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0.552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0.830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0.14M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E06 — Stream 1 + Stream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96.14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12.2M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E07 — Stream 1 + Stream 3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95.90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0.976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11.0M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E08 — Stream 2 + Stream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78.57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1.45M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E09 — Full Model (Adam, d=0.5)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95.48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0.984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0.974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12.4M</a:t>
                      </a:r>
                    </a:p>
                  </a:txBody>
                  <a:tcPr>
                    <a:solidFill>
                      <a:srgbClr val="2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E10 — Full Model (SGD)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92.76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12.4M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CCCC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5A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CCCC"/>
                          </a:solidFill>
                          <a:latin typeface="Calibri"/>
                        </a:rPr>
                        <a:t>E11 — Full Model (d=0.3)  ★ BEST</a:t>
                      </a:r>
                    </a:p>
                  </a:txBody>
                  <a:tcPr>
                    <a:solidFill>
                      <a:srgbClr val="5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CCCC"/>
                          </a:solidFill>
                          <a:latin typeface="Calibri"/>
                        </a:rPr>
                        <a:t>96.57</a:t>
                      </a:r>
                    </a:p>
                  </a:txBody>
                  <a:tcPr>
                    <a:solidFill>
                      <a:srgbClr val="5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CCCC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>
                    <a:solidFill>
                      <a:srgbClr val="5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CCCC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>
                    <a:solidFill>
                      <a:srgbClr val="5A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CCCC"/>
                          </a:solidFill>
                          <a:latin typeface="Calibri"/>
                        </a:rPr>
                        <a:t>12.4M</a:t>
                      </a:r>
                    </a:p>
                  </a:txBody>
                  <a:tcPr>
                    <a:solidFill>
                      <a:srgbClr val="5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6954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E12 — Full Model (No Attn)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96.43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FFFFF"/>
                          </a:solidFill>
                          <a:latin typeface="Calibri"/>
                        </a:rPr>
                        <a:t>12.3M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Ablation Study — Visual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7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60704"/>
            <a:ext cx="11551615" cy="45886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510528"/>
            <a:ext cx="11551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CCC"/>
                </a:solidFill>
                <a:latin typeface="Calibri"/>
              </a:rPr>
              <a:t>All 12 experiments sorted by accuracy.  Best: E11 (dropout=0.3) — 96.57%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What the Ablation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8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52144"/>
            <a:ext cx="5684367" cy="23591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52144"/>
            <a:ext cx="64008" cy="23591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243584"/>
            <a:ext cx="5483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  <a:latin typeface="Calibri"/>
              </a:rPr>
              <a:t>1.  Transfer Learning Dominates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64208"/>
            <a:ext cx="548319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ResNet-18 alone (E03):  95.10%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Custom CNN from scratch (E04):  85.71%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Gap: +9.4pp — ImageNet features generalise strongly to face manipulation detection at 14K sample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152144"/>
            <a:ext cx="5684367" cy="23591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7287" y="1152144"/>
            <a:ext cx="64008" cy="235915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2735" y="1243584"/>
            <a:ext cx="5483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  <a:latin typeface="Calibri"/>
              </a:rPr>
              <a:t>2.  Adam &gt;&gt; SGD  (+2.7pp)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2735" y="1664208"/>
            <a:ext cx="548319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Adam (E09): 95.48%   vs   SGD (E10): 92.76%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Three parallel streams create heterogeneous gradient scales. Adam's adaptive per-parameter LR handles this; SGD's single LR cannot balance a frozen ResNet + two scratch CNNs.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75888"/>
            <a:ext cx="5684367" cy="23591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675888"/>
            <a:ext cx="64008" cy="2359152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767328"/>
            <a:ext cx="5483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333"/>
                </a:solidFill>
                <a:latin typeface="Calibri"/>
              </a:rPr>
              <a:t>3.  Dropout 0.3 &gt; 0.5  (+1.09pp)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187952"/>
            <a:ext cx="548319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E09 (d=0.5): 95.48%   →   E11 (d=0.3): 96.57%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Model is in high-bias regime at d=0.5 — over-regularised. Relaxing to 0.3 unlocks the full capacity of the 896-d fusion vector.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675888"/>
            <a:ext cx="5684367" cy="235915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7287" y="3675888"/>
            <a:ext cx="64008" cy="2359152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2735" y="3767328"/>
            <a:ext cx="5483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666"/>
                </a:solidFill>
                <a:latin typeface="Calibri"/>
              </a:rPr>
              <a:t>4.  FFT Stream Adds Noise via Simple Concat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4187952"/>
            <a:ext cx="548319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Stream1+2 (E06): 96.14%  &gt;  Full model (E09): 95.48%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Adding Stream 3 (FFT, standalone 71.9%) HURTS accuracy. Weak frequency features introduce noise. Needs gated fusion, not naive concatenation.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Training Convergence — Top 5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9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11551615" cy="43020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473952"/>
            <a:ext cx="115516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CCC"/>
                </a:solidFill>
                <a:latin typeface="Calibri"/>
              </a:rPr>
              <a:t>Top 5 by test accuracy: E11, E12, E06, E07, E09.  All converge by epoch 15–18.  CosineAnnealingLR prevents loss spikes.  E11 achieves best final val acc.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Activation Function Analysis — Stream 2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10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ctiv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60704"/>
            <a:ext cx="11551615" cy="44221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4325112"/>
            <a:ext cx="11551615" cy="6858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325112"/>
            <a:ext cx="64008" cy="685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4389120"/>
            <a:ext cx="3696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ELU WINS across all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2072" y="4416552"/>
            <a:ext cx="76481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ELU: 95.67% acc, AUC 0.9888, F1 0.9745  —  vs  ReLU: 94.57% / 0.9773 / 0.9682  and  Leaky ReLU: 94.29% / 0.9790 / 0.9663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074920"/>
            <a:ext cx="11551615" cy="6858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5074920"/>
            <a:ext cx="64008" cy="6858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5138928"/>
            <a:ext cx="3696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ELU also fastest: −13% training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2072" y="5166360"/>
            <a:ext cx="76481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162 min (ELU)  vs  187 min (ReLU)  vs  175 min (Leaky ReLU).  ELU's self-normalising property (mean closer to zero) speeds convergence.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824728"/>
            <a:ext cx="11551615" cy="68580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5824728"/>
            <a:ext cx="64008" cy="685800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5888736"/>
            <a:ext cx="3696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333"/>
                </a:solidFill>
                <a:latin typeface="Calibri"/>
              </a:rPr>
              <a:t>Dying ReLU in periocular CNN — root cause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2072" y="5916168"/>
            <a:ext cx="76481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Manipulation artefacts in eye/mouth region produce near-zero pre-activations. ReLU's hard-zero threshold kills these neurons. ELU's smooth exponential (e^x−1 for x&lt;0) preserves gradient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Batch Normalisation Analysis — Stream 2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11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atchnor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60704"/>
            <a:ext cx="11551615" cy="41016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4279392"/>
            <a:ext cx="11551615" cy="66751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279392"/>
            <a:ext cx="64008" cy="66751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4343400"/>
            <a:ext cx="404306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WITHOUT BN WINS: +0.38pp acc, +0.32 AUC, saves 31% training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8621" y="4370832"/>
            <a:ext cx="730159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With BN: 94.57% / 175.3 min   vs   Without BN: 94.95% / 121.5 min  →  53.9 minutes saved per run. Removing BN improves ALL metrics simultaneously.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010912"/>
            <a:ext cx="11551615" cy="66751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5010912"/>
            <a:ext cx="64008" cy="66751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5074920"/>
            <a:ext cx="404306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WHY BN IS REDUNDANT in Stream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8621" y="5102352"/>
            <a:ext cx="730159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Stream 2 is sandwiched: ResNet-18 (S1) applies BN throughout its blocks; the fusion head applies BN1d on the 896-d concatenated vector. Per-stream BN inside S2 adds zero benefit — the signal is normalised at both ends.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742432"/>
            <a:ext cx="11551615" cy="667512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5742432"/>
            <a:ext cx="64008" cy="667512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5806440"/>
            <a:ext cx="404306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333"/>
                </a:solidFill>
                <a:latin typeface="Calibri"/>
              </a:rPr>
              <a:t>DESIGN PRINCIPLE for multi-stream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8621" y="5833872"/>
            <a:ext cx="730159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Place BN at the fusion point, not inside each stream independently. Fusion-level normalisation handles inter-stream scale differences more efficiently than per-stream BN. Aligns with internal covariate shift theory (Ioffe &amp; Szegedy 2015).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Best Model — E11: Full Model (dropout=0.3)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12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60704"/>
            <a:ext cx="3759098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60704"/>
            <a:ext cx="3759098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24712"/>
            <a:ext cx="37590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C0000"/>
                </a:solidFill>
                <a:latin typeface="Calibri"/>
              </a:rPr>
              <a:t>96.57%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82496"/>
            <a:ext cx="37590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CC"/>
                </a:solidFill>
                <a:latin typeface="Calibri"/>
              </a:rPr>
              <a:t>Test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6298" y="1060704"/>
            <a:ext cx="3759098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16298" y="1060704"/>
            <a:ext cx="3759098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16298" y="1124712"/>
            <a:ext cx="37590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4444"/>
                </a:solidFill>
                <a:latin typeface="Calibri"/>
              </a:rPr>
              <a:t>0.9904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6298" y="1682496"/>
            <a:ext cx="37590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CC"/>
                </a:solidFill>
                <a:latin typeface="Calibri"/>
              </a:rPr>
              <a:t>Test 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2556" y="1060704"/>
            <a:ext cx="3759098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2556" y="1060704"/>
            <a:ext cx="3759098" cy="54864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2556" y="1124712"/>
            <a:ext cx="37590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63333"/>
                </a:solidFill>
                <a:latin typeface="Calibri"/>
              </a:rPr>
              <a:t>0.9799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2556" y="1682496"/>
            <a:ext cx="37590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CC"/>
                </a:solidFill>
                <a:latin typeface="Calibri"/>
              </a:rPr>
              <a:t>Test F1</a:t>
            </a:r>
          </a:p>
        </p:txBody>
      </p:sp>
      <p:pic>
        <p:nvPicPr>
          <p:cNvPr id="19" name="Picture 1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30552"/>
            <a:ext cx="8432678" cy="299683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953886" y="2176272"/>
            <a:ext cx="2917768" cy="100584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53886" y="2267712"/>
            <a:ext cx="2917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0000"/>
                </a:solidFill>
                <a:latin typeface="Calibri"/>
              </a:rPr>
              <a:t>2,100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886" y="2779776"/>
            <a:ext cx="2917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Test Samples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3886" y="3255264"/>
            <a:ext cx="2917768" cy="100584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53886" y="3346704"/>
            <a:ext cx="2917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0000"/>
                </a:solidFill>
                <a:latin typeface="Calibri"/>
              </a:rPr>
              <a:t>~72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886" y="3858768"/>
            <a:ext cx="2917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Misclassified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3886" y="4334256"/>
            <a:ext cx="2917768" cy="100584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53886" y="4425696"/>
            <a:ext cx="2917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0000"/>
                </a:solidFill>
                <a:latin typeface="Calibri"/>
              </a:rPr>
              <a:t>96.86%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886" y="4937760"/>
            <a:ext cx="2917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Best Val Acc
(epoch 19)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3886" y="5413248"/>
            <a:ext cx="2917768" cy="100584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53886" y="5504688"/>
            <a:ext cx="2917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C0000"/>
                </a:solidFill>
                <a:latin typeface="Calibri"/>
              </a:rPr>
              <a:t>12.4M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3886" y="6016752"/>
            <a:ext cx="2917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  <a:latin typeface="Calibri"/>
              </a:rPr>
              <a:t>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510528"/>
            <a:ext cx="115516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9999"/>
                </a:solidFill>
                <a:latin typeface="Calibri"/>
              </a:rPr>
              <a:t>Checkpoint: epoch 19, val acc 96.86%.  Balanced errors: ~36 FP + ~36 FN.  High AUC (0.990) confirms strong class separation.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Key Findings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52144"/>
            <a:ext cx="11551615" cy="6400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52144"/>
            <a:ext cx="64008" cy="64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8930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61872"/>
            <a:ext cx="11021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Multi-stream fusion outperforms all single-stream baselines  (96.57% vs best single 95.10% — Stream 1 ResNet-18)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65376"/>
            <a:ext cx="11551615" cy="6400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865376"/>
            <a:ext cx="64008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0253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44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75104"/>
            <a:ext cx="11021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Transfer learning dominates at dataset scale:  ResNet-18 (95.10%)  vs  custom CNN scratch (85.71%)  →  +9.4pp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78608"/>
            <a:ext cx="11551615" cy="6400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64008" cy="640080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1576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3333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688336"/>
            <a:ext cx="11021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Adam + CosineAnnealingLR is essential:  Adam 95.48%  vs  SGD 92.76%  (−2.7pp for heterogeneous multi-stream grads)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91840"/>
            <a:ext cx="11551615" cy="6400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291840"/>
            <a:ext cx="64008" cy="64008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6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01568"/>
            <a:ext cx="11021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Dropout tuning (0.5 → 0.3) gives +1.09pp — larger than adding SE attention (+0.14pp). Model was over-regularised.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05072"/>
            <a:ext cx="11551615" cy="6400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4005072"/>
            <a:ext cx="64008" cy="64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142232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14800"/>
            <a:ext cx="11021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ELU activation: +1.09pp vs ReLU and 13% faster training. Smooth negative half-plane prevents dying neurons in periocular CNN.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18304"/>
            <a:ext cx="11551615" cy="6400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718304"/>
            <a:ext cx="64008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85546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444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28032"/>
            <a:ext cx="11021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BN in Stream 2: +0.38pp and −31% training time (−54 min/run). Fusion BN1d makes per-stream BN redundant.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31536"/>
            <a:ext cx="11551615" cy="64008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5431536"/>
            <a:ext cx="64008" cy="640080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56869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3333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41264"/>
            <a:ext cx="11021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FFT stream adds noise via naive concat (S1+S2 96.14% &gt; Full 95.48%). Needs gated fusion — not simple concatenation.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Deployment in Pakistan's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14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3774338" cy="5504688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3774338" cy="5943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3637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DEPLOYMENT CHALLENGES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581912"/>
            <a:ext cx="3628034" cy="1828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64592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Low-resource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2–4 GB RAM Android, no GPU. Need MobileNetV3 distillation (&lt;5M params).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044952"/>
            <a:ext cx="3628034" cy="1828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10896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WhatsApp C40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1071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Re-encoding destroys FFT fingerprints. Requires C40 fine-tuning.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507992"/>
            <a:ext cx="3628034" cy="1828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57200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444"/>
                </a:solidFill>
                <a:latin typeface="Calibri"/>
              </a:rPr>
              <a:t>Urdu/Pashto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7375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Low-resource NLP limits multimodal text+video detection.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8678" y="1078992"/>
            <a:ext cx="3774338" cy="5504688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8678" y="1078992"/>
            <a:ext cx="3774338" cy="594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00118" y="1170432"/>
            <a:ext cx="3637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ETHICAL CONSIDERATIONS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1830" y="1581912"/>
            <a:ext cx="3628034" cy="182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00118" y="164592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False positive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118" y="194767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3.4% of real videos wrongly flagged. Never use binary verdict — show confidence score + human review for borderline cases.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1830" y="3044952"/>
            <a:ext cx="3628034" cy="182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0118" y="310896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Dual-use tension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0118" y="341071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Publishing failure modes helps adversaries. Responsible disclosure only.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1830" y="4507992"/>
            <a:ext cx="3628034" cy="182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00118" y="457200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0000"/>
                </a:solidFill>
                <a:latin typeface="Calibri"/>
              </a:rPr>
              <a:t>Governance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0118" y="487375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Legal frameworks and media literacy may matter more than accuracy gains.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7316" y="1078992"/>
            <a:ext cx="3774338" cy="5504688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97316" y="1078992"/>
            <a:ext cx="3774338" cy="59436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8756" y="1170432"/>
            <a:ext cx="3637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333"/>
                </a:solidFill>
                <a:latin typeface="Calibri"/>
              </a:rPr>
              <a:t>INTEGRATION PATHWAYS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0468" y="1581912"/>
            <a:ext cx="3628034" cy="18288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8756" y="164592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333"/>
                </a:solidFill>
                <a:latin typeface="Calibri"/>
              </a:rPr>
              <a:t>Browser extension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8756" y="194767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For Dawn, Geo, ARY News: overlay confidence badge on video content.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0468" y="3044952"/>
            <a:ext cx="3628034" cy="18288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8756" y="310896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333"/>
                </a:solidFill>
                <a:latin typeface="Calibri"/>
              </a:rPr>
              <a:t>WhatsApp Business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8756" y="341071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Server-side detection: append metadata flag before delivery in groups.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70468" y="4507992"/>
            <a:ext cx="3628034" cy="18288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8756" y="4572000"/>
            <a:ext cx="36371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333"/>
                </a:solidFill>
                <a:latin typeface="Calibri"/>
              </a:rPr>
              <a:t>PEMRA broadcast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8756" y="4873752"/>
            <a:ext cx="363717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Real-time deepfake flagging in Pakistan broadcast regulatory infrastructure.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1036289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292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Calibri"/>
              </a:rPr>
              <a:t>15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775807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24712"/>
            <a:ext cx="56386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0000"/>
                </a:solidFill>
                <a:latin typeface="Calibri"/>
              </a:rPr>
              <a:t>CONCLUSIONS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90472"/>
            <a:ext cx="5775807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90472"/>
            <a:ext cx="54864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563624"/>
            <a:ext cx="557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96.57%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557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competitive with SOTA using 12.4M params on FaceForensics++ C23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23743"/>
            <a:ext cx="5775807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523743"/>
            <a:ext cx="54864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96895"/>
            <a:ext cx="557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Multi-stream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07791"/>
            <a:ext cx="557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confirms three complementary cues outperform any single stream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57014"/>
            <a:ext cx="5775807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557014"/>
            <a:ext cx="54864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30166"/>
            <a:ext cx="557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ELU + No BN in 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41062"/>
            <a:ext cx="557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two best architectural improvements from targeted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90285"/>
            <a:ext cx="5775807" cy="960120"/>
          </a:xfrm>
          <a:prstGeom prst="rect">
            <a:avLst/>
          </a:prstGeom>
          <a:solidFill>
            <a:srgbClr val="2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590285"/>
            <a:ext cx="54864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37"/>
            <a:ext cx="557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Pakistan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74333"/>
            <a:ext cx="557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requires distillation, C40 fine-tuning, and human-in-loop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7015" y="1078992"/>
            <a:ext cx="5574639" cy="34747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8455" y="1124712"/>
            <a:ext cx="5437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0000"/>
                </a:solidFill>
                <a:latin typeface="Calibri"/>
              </a:rPr>
              <a:t>FUTURE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7015" y="1490472"/>
            <a:ext cx="5574639" cy="11887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97015" y="1490472"/>
            <a:ext cx="54864" cy="1188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4175" y="1563624"/>
            <a:ext cx="53734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Calibri"/>
              </a:rPr>
              <a:t>Gated Fusion for Stream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4175" y="1892808"/>
            <a:ext cx="537347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Learned gate suppresses weak FFT contribution when confidence is low — fixes the S1+S2 &gt; Full model counter-intuitive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7015" y="2752344"/>
            <a:ext cx="5574639" cy="11887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97015" y="2752344"/>
            <a:ext cx="54864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34175" y="2825496"/>
            <a:ext cx="53734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Knowledge Distillation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4175" y="3154680"/>
            <a:ext cx="537347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Compress 12.4M → MobileNetV3 (&lt;5M params) for on-device inference on Pakistani low-end smartphones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7015" y="4014216"/>
            <a:ext cx="5574639" cy="11887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97015" y="4014216"/>
            <a:ext cx="54864" cy="1188720"/>
          </a:xfrm>
          <a:prstGeom prst="rect">
            <a:avLst/>
          </a:prstGeom>
          <a:solidFill>
            <a:srgbClr val="E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4175" y="4087368"/>
            <a:ext cx="53734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3333"/>
                </a:solidFill>
                <a:latin typeface="Calibri"/>
              </a:rPr>
              <a:t>Temporal Modelling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4175" y="4416552"/>
            <a:ext cx="537347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Transformer / LSTM over 10-frame sequences for motion inconsistencies + audio-lip sync deepfake detection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7015" y="5276088"/>
            <a:ext cx="5574639" cy="118872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97015" y="5276088"/>
            <a:ext cx="54864" cy="118872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34175" y="5349240"/>
            <a:ext cx="53734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666"/>
                </a:solidFill>
                <a:latin typeface="Calibri"/>
              </a:rPr>
              <a:t>Cross-Dataset Generalisation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4175" y="5678424"/>
            <a:ext cx="537347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Celeb-DF v2, DFDC, custom South Asian dataset — quantify OOD performance and regional bias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99632"/>
            <a:ext cx="12191695" cy="59436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6199632"/>
            <a:ext cx="12191695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6263640"/>
            <a:ext cx="63533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3428" y="6327648"/>
            <a:ext cx="519822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CCCC"/>
                </a:solidFill>
                <a:latin typeface="Calibri"/>
              </a:rPr>
              <a:t>humnatariq03@gmail.com  ·  CS-419 Deep Learning, SEECS NUST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1943</Words>
  <Application>Microsoft Office PowerPoint</Application>
  <PresentationFormat>Widescreen</PresentationFormat>
  <Paragraphs>311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Humna Tariq</cp:lastModifiedBy>
  <cp:revision>2</cp:revision>
  <dcterms:created xsi:type="dcterms:W3CDTF">2013-01-27T09:14:16Z</dcterms:created>
  <dcterms:modified xsi:type="dcterms:W3CDTF">2026-05-05T18:47:10Z</dcterms:modified>
  <cp:category/>
</cp:coreProperties>
</file>